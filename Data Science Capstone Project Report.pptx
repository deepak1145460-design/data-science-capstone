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74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9923" y="2670322"/>
            <a:ext cx="10723" cy="107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67276" y="311660"/>
            <a:ext cx="9017" cy="901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236859" y="855642"/>
            <a:ext cx="11626" cy="1162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003325" y="5499136"/>
            <a:ext cx="7649" cy="764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02851" y="792522"/>
            <a:ext cx="8886" cy="888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64314" y="5977886"/>
            <a:ext cx="13064" cy="13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99958" y="1818361"/>
            <a:ext cx="5781" cy="578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87916" y="947854"/>
            <a:ext cx="12286" cy="1228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91135" y="1377280"/>
            <a:ext cx="9545" cy="954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89100" y="1839352"/>
            <a:ext cx="13128" cy="131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9895" y="5399402"/>
            <a:ext cx="8708" cy="87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49457" y="5029344"/>
            <a:ext cx="6536" cy="65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559608" y="3718399"/>
            <a:ext cx="13757" cy="1375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727495" y="4699984"/>
            <a:ext cx="4022" cy="402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004609" y="6363528"/>
            <a:ext cx="10575" cy="105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32081" y="3732193"/>
            <a:ext cx="3939" cy="393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04992" y="2406588"/>
            <a:ext cx="3926" cy="392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842908" y="3618718"/>
            <a:ext cx="12099" cy="120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819519" y="3625044"/>
            <a:ext cx="7490" cy="749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116778" y="5689124"/>
            <a:ext cx="13445" cy="1344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92428" y="1079995"/>
            <a:ext cx="10016" cy="10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957332" y="3064719"/>
            <a:ext cx="10331" cy="1033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97860" y="1306164"/>
            <a:ext cx="6699" cy="66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753523" y="560967"/>
            <a:ext cx="4920" cy="4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86549" y="3945816"/>
            <a:ext cx="5227" cy="522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614228" y="2171740"/>
            <a:ext cx="5185" cy="518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0576663" y="6000874"/>
            <a:ext cx="6687" cy="668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077605" y="5451841"/>
            <a:ext cx="14212" cy="142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728585" y="158204"/>
            <a:ext cx="14234" cy="1423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2073377" y="5975797"/>
            <a:ext cx="5682" cy="568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759593" y="6822470"/>
            <a:ext cx="7321" cy="732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918253" y="1295682"/>
            <a:ext cx="13523" cy="135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077629" y="5578354"/>
            <a:ext cx="11738" cy="1173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967339" y="4760926"/>
            <a:ext cx="10225" cy="10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253861" y="1688154"/>
            <a:ext cx="5004" cy="50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5414391" y="1409780"/>
            <a:ext cx="7702" cy="770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922404" y="4711065"/>
            <a:ext cx="13400" cy="13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867930" y="1863503"/>
            <a:ext cx="11765" cy="1176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321262" y="3072570"/>
            <a:ext cx="14566" cy="1456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752070" y="2895101"/>
            <a:ext cx="6909" cy="690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651338" y="2439954"/>
            <a:ext cx="5683" cy="568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621774" y="4168586"/>
            <a:ext cx="5866" cy="586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354096" y="5110350"/>
            <a:ext cx="6991" cy="699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357396" y="5594989"/>
            <a:ext cx="8208" cy="8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5717864" y="6440507"/>
            <a:ext cx="6048" cy="6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152714" y="3476595"/>
            <a:ext cx="5875" cy="587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055986" y="786030"/>
            <a:ext cx="4102" cy="410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2576355" y="6483384"/>
            <a:ext cx="4515" cy="451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11199341" y="3695083"/>
            <a:ext cx="7358" cy="735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66286" y="2191579"/>
            <a:ext cx="5534" cy="553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574574" y="4297708"/>
            <a:ext cx="10432" cy="104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4888625" y="2986996"/>
            <a:ext cx="14047" cy="1404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12080948" y="3983815"/>
            <a:ext cx="10341" cy="1034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2128535" y="4383060"/>
            <a:ext cx="4805" cy="48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201301" y="714117"/>
            <a:ext cx="13999" cy="1399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3818175" y="4314015"/>
            <a:ext cx="5260" cy="52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3953969" y="1406041"/>
            <a:ext cx="6728" cy="6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2062309" y="3528493"/>
            <a:ext cx="4477" cy="447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5668877" y="5193190"/>
            <a:ext cx="13257" cy="1325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2545297" y="1972953"/>
            <a:ext cx="6473" cy="647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692640" y="-731520"/>
            <a:ext cx="3108960" cy="3108960"/>
          </a:xfrm>
          <a:prstGeom prst="ellipse">
            <a:avLst/>
          </a:prstGeom>
          <a:solidFill>
            <a:srgbClr val="1B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 ·  APPLIED CAPSTONE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3152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First-Stage Landing Prediction</a:t>
            </a:r>
            <a:endParaRPr lang="en-US" sz="4000" dirty="0"/>
          </a:p>
        </p:txBody>
      </p:sp>
      <p:sp>
        <p:nvSpPr>
          <p:cNvPr id="66" name="Text 64"/>
          <p:cNvSpPr/>
          <p:nvPr/>
        </p:nvSpPr>
        <p:spPr>
          <a:xfrm>
            <a:off x="73152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capstone project: collecting, wrangling, exploring, and modeling Falcon 9 launch data to predict whether the first stage will land successfully.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25400">
            <a:solidFill>
              <a:srgbClr val="F464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3152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Deepak Kachhap </a:t>
            </a:r>
            <a:r>
              <a:rPr lang="en-US" sz="1300" dirty="0" err="1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Oraon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31520" y="5577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https://github.com/deepak1145460-design/Data-science-capstone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73152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August 20,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set out to do — and what we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launch data via the SpaceX REST API and by scraping Wikipedia's Falcon 9 launch-records table, then wrangled both into a single analysis-ready dataset with an engineered landing-success label.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3075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data with visual EDA (Matplotlib/Seaborn) and SQL, then built an interactive Folium map and a Plotly Dash app to analyze launch sites, payloads, and outcomes.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5683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tuned four classifiers (Logistic Regression, SVM, Decision Tree, KNN) with GridSearchCV to predict first-stage landing success from flight parameters.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724912" cy="4434840"/>
          </a:xfrm>
          <a:prstGeom prst="roundRect">
            <a:avLst>
              <a:gd name="adj" fmla="val 2685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82912" y="187452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91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8291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2912" y="2971800"/>
            <a:ext cx="221284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rose from near 0% in 2010–2013 to over 80% by 2019–2020. The tuned Logistic Regression / SVM models reached 83.3% test accuracy, the best of the four candidates.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and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263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$62M, far below competitors' $165M+, largely because SpaceX reuses the first stage instead of discarding it.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whether a launch's first stage will land successfully — before it flies — we can estimate the true cost of a launch, which is valuable for a company that wants to compete with SpaceX for a contract.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using historical launch data (site, payload, orbit, booster version, flight number), predict the binary outcome — did the first stage land successfully or not?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2240280"/>
            <a:ext cx="3520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most affect landing outcome?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success rate changed over time?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orbit types and launch sites are riskiest?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 best predicts a landing?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SPACEX API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01: pulling Falcon 9 launch data from api.spacexdata.com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requests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 REST endpoints — launches, rockets, payloads, launchpads, cores — to pull raw JSON.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2783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IDs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launch record only stores IDs; helper functions look up booster, launchpad, payload and core names.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6247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Flatten &amp; assemble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resolved fields into one flat DataFrame — one row per launch.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9711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35440" y="1874520"/>
            <a:ext cx="457200" cy="457200"/>
          </a:xfrm>
          <a:prstGeom prst="ellipse">
            <a:avLst/>
          </a:prstGeom>
          <a:solidFill>
            <a:srgbClr val="F464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35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&amp; clean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Falcon 9 only (drop Falcon 1), renumber flights, fill missing payload mass with the column mean.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Falcon 9 launch records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raw fields → flattened, human-readable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the base dataset for wrangling &amp; modeling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319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8076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https://github.com/deepak1145460-design/Data-science-capstone/blob/main/01_data_collection_api_.ipynb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02: scraping Wikipedia's Falcon 9 &amp; Falcon Heavy launch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the Wikipedia page "List of Falcon 9 and Falcon Heavy launches" with requests.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2783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Locate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BeautifulSoup to find the launch-record &lt;table&gt; elements on the page.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6247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rows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read table headers, then iterate every &lt;tr&gt;/&lt;td&gt; to extract each launch's fields.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9711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35440" y="1874520"/>
            <a:ext cx="457200" cy="457200"/>
          </a:xfrm>
          <a:prstGeom prst="ellipse">
            <a:avLst/>
          </a:prstGeom>
          <a:solidFill>
            <a:srgbClr val="2E6F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354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4414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2770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parsed rows into a DataFrame — an independent, cross-check dataset.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independent dataset to cross-check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API-sourced records for consistency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two are combined during wrangling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319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8076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https://github.com/deepak1145460-design/Data-science-capstone/blob/main/02_data_collection_webscraping_.ipynb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03: cleaning the data and engineering the landing-success label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0162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nulls column by column — concentrated in LandingPad, expected for expendable or failed landings.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55080" y="20162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55080" y="2016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801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distributions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1305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launch-site and orbit-type frequency counts to understand class balance.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329641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81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outcomes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 strings (e.g. 'True ASDS', 'False Ocean', 'None None') mapped to a bad/good outcome set.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55080" y="329641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55080" y="32964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0815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Class label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41071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only when landing_success is True; every other outcome (failure, no attempt) = 0.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740664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68680" y="4343400"/>
            <a:ext cx="6858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landing success rate in the wrangled dataset: 66.67%  (90 launches, 18 fields incl. Class)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114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4434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6676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https://github.com/deepak1145460-design/Data-science-capstone/blob/main/03_data_wrangling_.ipynb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04: charts used and what each one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417320"/>
          </a:xfrm>
          <a:prstGeom prst="rect">
            <a:avLst/>
          </a:prstGeom>
          <a:solidFill>
            <a:srgbClr val="F464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Flight Number vs Launch Site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landing success improves as flight number (experience) increases, per site.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82296" cy="1417320"/>
          </a:xfrm>
          <a:prstGeom prst="rect">
            <a:avLst/>
          </a:prstGeom>
          <a:solidFill>
            <a:srgbClr val="2E6FE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37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Payload Mass vs Launch Site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heavier payloads at a given site are linked to lower success.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00400"/>
            <a:ext cx="82296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— Success Rate by Orbit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orbit types by landing success rate to flag the riskiest orbits.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200400"/>
            <a:ext cx="82296" cy="1417320"/>
          </a:xfrm>
          <a:prstGeom prst="rect">
            <a:avLst/>
          </a:prstGeom>
          <a:solidFill>
            <a:srgbClr val="F464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3375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Flight Number vs Orbit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7947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by orbit type has evolved as SpaceX gained more flights.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800600"/>
            <a:ext cx="82296" cy="1417320"/>
          </a:xfrm>
          <a:prstGeom prst="rect">
            <a:avLst/>
          </a:prstGeom>
          <a:solidFill>
            <a:srgbClr val="2E6FE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377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— Payload Mass vs Orbit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payload mass interacts with orbit type to affect landing odds.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800600"/>
            <a:ext cx="82296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9377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— Yearly Success-Rate Trend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53949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trajectory of landing success from 2010 to 2020.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GitHub: https://github.com/deepak1145460-design/Data-science-capstone/blob/main/04_eda_visualization_.ipynb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(1/3)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Flight number &amp; payload mass vs. launch site</a:t>
            </a:r>
            <a:endParaRPr lang="en-US" sz="2800" dirty="0"/>
          </a:p>
        </p:txBody>
      </p:sp>
      <p:pic>
        <p:nvPicPr>
          <p:cNvPr id="4" name="Image 0" descr="/home/claude/imgs/ed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flights (higher FlightNumber) skew orange (success) at every site — SpaceX's recovery process visibly matured with experience.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succeed less consistently, especially at VAFB SLC-4E — payload mass is a meaningful risk factor.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(2/3)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rate by orbit &amp; flight number vs. orbit</a:t>
            </a:r>
            <a:endParaRPr lang="en-US" sz="2800" dirty="0"/>
          </a:p>
        </p:txBody>
      </p:sp>
      <p:pic>
        <p:nvPicPr>
          <p:cNvPr id="4" name="Image 0" descr="/home/claude/imgs/eda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landing success rate in this dataset; GTO and SO are the riskiest.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in higher-energy orbits (GTO, ISS) also improves at higher flight numbers, tracking overall program maturity.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— RESULTS (3/3)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Payload mass vs. orbit &amp; the yearly success-rate trend</a:t>
            </a:r>
            <a:endParaRPr lang="en-US" sz="2800" dirty="0"/>
          </a:p>
        </p:txBody>
      </p:sp>
      <p:pic>
        <p:nvPicPr>
          <p:cNvPr id="4" name="Image 0" descr="/home/claude/imgs/eda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40680" cy="4160520"/>
          </a:xfrm>
          <a:prstGeom prst="rect">
            <a:avLst/>
          </a:prstGeom>
        </p:spPr>
      </p:pic>
      <p:pic>
        <p:nvPicPr>
          <p:cNvPr id="5" name="Image 1" descr="/home/claude/imgs/eda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4068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Payload/orbit combinations cluster — very heavy payloads mostly target LEO/ISS, where recovery is comparatively easier.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was ~0% through 2013, climbed sharply from 2014, and has stayed above 60–90% since 2016.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05: 10 queries run against a local SQLite table (SPACEXTBL)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Distinct launch sites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Sites beginning with 'CCA'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183880" y="16459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NASA (CRS) payload mass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Average payload mass by booster 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Date of first successful ground-pad landing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Boosters: drone-ship success, 4000–6000 kg payload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Total successes vs. failures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43484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Booster versions carrying max payload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183880" y="3108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Launch-site / outcome ranking by year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Failure-outcome ranking, 2010-06-04 to 2017-03-20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for this notebook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https://github.com/deepak1145460-design/Data-science-capstone/blob/main/05_eda_sql_.ipynb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outputs: launch sites, payloads, success rates, rankings, time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Picture 7" descr="sql_results_gri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11460480" cy="4433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06 (Folium) &amp; 07_spacex_dash_app.py (Plotly Dash)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Folium 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every launch site on an interactive map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each launch record green (success) / red (failure)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mouse-position readout for distance measurement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to coastline, railway, highway &amp; nearest city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https://github.com/deepak1145460-design/Data-science-capstone/blob/main/06_folium_launch_site_analysis_.ipynb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Plotly Dash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pick a launch site (or "All Sites")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success-count share by site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 to filter by payload mass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mass vs. success, colored by booster version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https://github.com/deepak1145460-design/Data-science-capstone/blob/main/07_spacex_dash_app_.py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site markers, launch outcomes, and proximity analysis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pic>
        <p:nvPicPr>
          <p:cNvPr id="15" name="Picture 14" descr="A map of the north america&#10;&#10;Description automatically generated">
            <a:extLst>
              <a:ext uri="{FF2B5EF4-FFF2-40B4-BE49-F238E27FC236}">
                <a16:creationId xmlns:a16="http://schemas.microsoft.com/office/drawing/2014/main" id="{C037EECF-0A87-B11D-1919-CB5FF465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1437407"/>
            <a:ext cx="4252996" cy="2564307"/>
          </a:xfrm>
          <a:prstGeom prst="rect">
            <a:avLst/>
          </a:prstGeom>
        </p:spPr>
      </p:pic>
      <p:pic>
        <p:nvPicPr>
          <p:cNvPr id="17" name="Picture 16" descr="A map with a map and a map with a map and a map with a map and a map with a map and a map with a map and a map with a map and a map with&#10;&#10;Description automatically generated">
            <a:extLst>
              <a:ext uri="{FF2B5EF4-FFF2-40B4-BE49-F238E27FC236}">
                <a16:creationId xmlns:a16="http://schemas.microsoft.com/office/drawing/2014/main" id="{B5C69DC3-7887-AC37-9256-B615D975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81" y="1406463"/>
            <a:ext cx="4223993" cy="2564307"/>
          </a:xfrm>
          <a:prstGeom prst="rect">
            <a:avLst/>
          </a:prstGeom>
        </p:spPr>
      </p:pic>
      <p:pic>
        <p:nvPicPr>
          <p:cNvPr id="19" name="Picture 18" descr="A map of a city&#10;&#10;Description automatically generated">
            <a:extLst>
              <a:ext uri="{FF2B5EF4-FFF2-40B4-BE49-F238E27FC236}">
                <a16:creationId xmlns:a16="http://schemas.microsoft.com/office/drawing/2014/main" id="{6DCC54A0-DF68-87C0-2597-5719457BD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627" y="4359842"/>
            <a:ext cx="4001020" cy="239854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87681" y="4150000"/>
            <a:ext cx="3800000" cy="2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are colored green for a successful first-stage landing and red for a failure, plotted across all three launch sites — CCAFS SLC-40, KSC LC-39A, and VAFB SLC-4E.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confirms each pad sits close to the coastline for overwater-abort safety, and well clear of highways, railways, and the nearest city — consistent with FAA siting rules for orbital launch facilities.</a:t>
            </a:r>
            <a:endParaRPr lang="en-US" sz="1050" i="1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87A9CAB3-6A17-8530-610E-6FC332A68618}"/>
              </a:ext>
            </a:extLst>
          </p:cNvPr>
          <p:cNvSpPr/>
          <p:nvPr/>
        </p:nvSpPr>
        <p:spPr>
          <a:xfrm>
            <a:off x="-1586" y="837991"/>
            <a:ext cx="12193585" cy="3310625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APP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pie chart and payload-vs-outcome scatter plot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-1" y="4174454"/>
            <a:ext cx="12191999" cy="2390937"/>
          </a:xfrm>
          <a:prstGeom prst="rect">
            <a:avLst/>
          </a:prstGeom>
          <a:solidFill>
            <a:srgbClr val="EDF1F7"/>
          </a:solidFill>
          <a:ln w="15875">
            <a:solidFill>
              <a:srgbClr val="AAB4C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Picture 10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7478188F-A95D-4676-7449-3BCBDD2D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7" y="1167983"/>
            <a:ext cx="5461510" cy="2235179"/>
          </a:xfrm>
          <a:prstGeom prst="rect">
            <a:avLst/>
          </a:prstGeom>
        </p:spPr>
      </p:pic>
      <p:pic>
        <p:nvPicPr>
          <p:cNvPr id="13" name="Picture 12" descr="A pie chart with a red and blue circle&#10;&#10;Description automatically generated">
            <a:extLst>
              <a:ext uri="{FF2B5EF4-FFF2-40B4-BE49-F238E27FC236}">
                <a16:creationId xmlns:a16="http://schemas.microsoft.com/office/drawing/2014/main" id="{94AAEC54-5E65-F3BC-0FB5-CBCF26F40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1137816"/>
            <a:ext cx="4846320" cy="2253023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0B33E88E-E0FD-3A5F-CCA5-C1F33724D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0" y="4024041"/>
            <a:ext cx="7097735" cy="25413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60467" y="3460000"/>
            <a:ext cx="5261510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contributes the largest share of successful launches, followed by KSC LC-39A and VAFB SLC-4E, reflecting each site's launch volume in the dataset.</a:t>
            </a:r>
          </a:p>
        </p:txBody>
      </p:sp>
      <p:sp>
        <p:nvSpPr>
          <p:cNvPr id="21" name="Text 11"/>
          <p:cNvSpPr/>
          <p:nvPr/>
        </p:nvSpPr>
        <p:spPr>
          <a:xfrm>
            <a:off x="6317921" y="3460000"/>
            <a:ext cx="4746320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the dropdown to a single site (KSC LC-39A) shows a 77% success rate for that pad alone, confirming per-site performance beyond the all-sites aggregate.</a:t>
            </a:r>
          </a:p>
        </p:txBody>
      </p:sp>
      <p:sp>
        <p:nvSpPr>
          <p:cNvPr id="22" name="Text 12"/>
          <p:cNvSpPr/>
          <p:nvPr/>
        </p:nvSpPr>
        <p:spPr>
          <a:xfrm>
            <a:off x="7300000" y="4300000"/>
            <a:ext cx="4700000" cy="2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slider filters launches by payload mass, and the scatter plots outcome (Class) against payload, colored by booster version.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Successes cluster at lower-to-mid payload masses, while failures concentrate above roughly 5,500 kg — the same payload-mass risk trend seen in the static EDA, now explorable interactively by site and mass range.</a:t>
            </a:r>
            <a:endParaRPr lang="en-US" sz="1050" i="1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08: four classifiers, tuned with GridSearchCV</a:t>
            </a:r>
            <a:endParaRPr lang="en-US" sz="2800" dirty="0"/>
          </a:p>
        </p:txBody>
      </p:sp>
      <p:pic>
        <p:nvPicPr>
          <p:cNvPr id="4" name="Image 0" descr="/home/claude/imgs/pred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76072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0" y="21031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features, split 80/20 train (72) / test (18)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(10-fold CV) tuned Logistic Regression, SVM, Decision Tree, and KNN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best hyperparameters per model on CV accuracy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all four on held-out test accuracy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0" y="43434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43434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&amp; KNN tied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83.3% test accuracy;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trailed at 72.2%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BEST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and evaluation metrics</a:t>
            </a:r>
            <a:endParaRPr lang="en-US" sz="2800" dirty="0"/>
          </a:p>
        </p:txBody>
      </p:sp>
      <p:pic>
        <p:nvPicPr>
          <p:cNvPr id="4" name="Image 0" descr="/home/claude/imgs/pre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2120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Logistic Regression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26480" y="2194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83.3%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126480" y="29718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2971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0" y="2971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0.889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26480" y="37490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Score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26480" y="47091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47091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identified all 12 actual landings and 3 of 6 non-landings — it over-predicts success, so it should be paired with a cost-aware threshold in production.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climbed from ~0% (2010-13) to 80-90% (2019-20) as SpaceX matured its recovery process.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number, payload mass, launch site, and orbit type all measurably influence landing outcome.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the highest success; GTO and SO are the riskiest.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and KNN each reached 83.3% test accuracy — Decision Tree underperformed at 72.2%.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02352"/>
            <a:ext cx="310896" cy="310896"/>
          </a:xfrm>
          <a:prstGeom prst="ellipse">
            <a:avLst/>
          </a:prstGeom>
          <a:solidFill>
            <a:srgbClr val="F4642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02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model gives a reasonable first estimate of launch cost for competitive bidding, with room to improve recall on failed landings.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Falcon 9 Landing Prediction — Data Science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1916</Words>
  <Application>Microsoft Office PowerPoint</Application>
  <PresentationFormat>Widescreen</PresentationFormat>
  <Paragraphs>242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Nikita kachhap</cp:lastModifiedBy>
  <cp:revision>3</cp:revision>
  <dcterms:created xsi:type="dcterms:W3CDTF">2026-08-19T20:41:16Z</dcterms:created>
  <dcterms:modified xsi:type="dcterms:W3CDTF">2026-08-20T12:07:55Z</dcterms:modified>
</cp:coreProperties>
</file>