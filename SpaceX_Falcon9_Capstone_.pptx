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1740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9923" y="2670322"/>
            <a:ext cx="10723" cy="1072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67276" y="311660"/>
            <a:ext cx="9017" cy="901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236859" y="855642"/>
            <a:ext cx="11626" cy="1162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003325" y="5499136"/>
            <a:ext cx="7649" cy="764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802851" y="792522"/>
            <a:ext cx="8886" cy="888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564314" y="5977886"/>
            <a:ext cx="13064" cy="13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399958" y="1818361"/>
            <a:ext cx="5781" cy="5781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187916" y="947854"/>
            <a:ext cx="12286" cy="1228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91135" y="1377280"/>
            <a:ext cx="9545" cy="954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489100" y="1839352"/>
            <a:ext cx="13128" cy="131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769895" y="5399402"/>
            <a:ext cx="8708" cy="87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549457" y="5029344"/>
            <a:ext cx="6536" cy="65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559608" y="3718399"/>
            <a:ext cx="13757" cy="1375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727495" y="4699984"/>
            <a:ext cx="4022" cy="402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004609" y="6363528"/>
            <a:ext cx="10575" cy="105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32081" y="3732193"/>
            <a:ext cx="3939" cy="393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04992" y="2406588"/>
            <a:ext cx="3926" cy="392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842908" y="3618718"/>
            <a:ext cx="12099" cy="1209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819519" y="3625044"/>
            <a:ext cx="7490" cy="749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116778" y="5689124"/>
            <a:ext cx="13445" cy="1344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692428" y="1079995"/>
            <a:ext cx="10016" cy="100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957332" y="3064719"/>
            <a:ext cx="10331" cy="10331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997860" y="1306164"/>
            <a:ext cx="6699" cy="669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753523" y="560967"/>
            <a:ext cx="4920" cy="4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86549" y="3945816"/>
            <a:ext cx="5227" cy="522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614228" y="2171740"/>
            <a:ext cx="5185" cy="518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0576663" y="6000874"/>
            <a:ext cx="6687" cy="668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077605" y="5451841"/>
            <a:ext cx="14212" cy="142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0728585" y="158204"/>
            <a:ext cx="14234" cy="1423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2073377" y="5975797"/>
            <a:ext cx="5682" cy="568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3759593" y="6822470"/>
            <a:ext cx="7321" cy="7321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918253" y="1295682"/>
            <a:ext cx="13523" cy="1352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5077629" y="5578354"/>
            <a:ext cx="11738" cy="1173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967339" y="4760926"/>
            <a:ext cx="10225" cy="102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253861" y="1688154"/>
            <a:ext cx="5004" cy="5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5414391" y="1409780"/>
            <a:ext cx="7702" cy="770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4922404" y="4711065"/>
            <a:ext cx="13400" cy="13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867930" y="1863503"/>
            <a:ext cx="11765" cy="1176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321262" y="3072570"/>
            <a:ext cx="14566" cy="1456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752070" y="2895101"/>
            <a:ext cx="6909" cy="690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5651338" y="2439954"/>
            <a:ext cx="5683" cy="568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9621774" y="4168586"/>
            <a:ext cx="5866" cy="586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5354096" y="5110350"/>
            <a:ext cx="6991" cy="6991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357396" y="5594989"/>
            <a:ext cx="8208" cy="82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5717864" y="6440507"/>
            <a:ext cx="6048" cy="6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152714" y="3476595"/>
            <a:ext cx="5875" cy="58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055986" y="786030"/>
            <a:ext cx="4102" cy="410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2576355" y="6483384"/>
            <a:ext cx="4515" cy="451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11199341" y="3695083"/>
            <a:ext cx="7358" cy="735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866286" y="2191579"/>
            <a:ext cx="5534" cy="553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3574574" y="4297708"/>
            <a:ext cx="10432" cy="104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4888625" y="2986996"/>
            <a:ext cx="14047" cy="1404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12080948" y="3983815"/>
            <a:ext cx="10341" cy="10341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2128535" y="4383060"/>
            <a:ext cx="4805" cy="480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3201301" y="714117"/>
            <a:ext cx="13999" cy="1399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3818175" y="4314015"/>
            <a:ext cx="5260" cy="52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3953969" y="1406041"/>
            <a:ext cx="6728" cy="6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2062309" y="3528493"/>
            <a:ext cx="4477" cy="447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5668877" y="5193190"/>
            <a:ext cx="13257" cy="1325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2545297" y="1972953"/>
            <a:ext cx="6473" cy="647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9692640" y="-731520"/>
            <a:ext cx="3108960" cy="3108960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  ·  APPLIED CAPSTONE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3152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First-Stage Landing Prediction</a:t>
            </a:r>
            <a:endParaRPr lang="en-US" sz="4000" dirty="0"/>
          </a:p>
        </p:txBody>
      </p:sp>
      <p:sp>
        <p:nvSpPr>
          <p:cNvPr id="66" name="Text 64"/>
          <p:cNvSpPr/>
          <p:nvPr/>
        </p:nvSpPr>
        <p:spPr>
          <a:xfrm>
            <a:off x="731520" y="4114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science capstone project: collecting, wrangling, exploring, and modeling Falcon 9 launch data to predict whether the first stage will land successfully.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731520" y="5074920"/>
            <a:ext cx="2011680" cy="0"/>
          </a:xfrm>
          <a:prstGeom prst="line">
            <a:avLst/>
          </a:prstGeom>
          <a:noFill/>
          <a:ln w="25400">
            <a:solidFill>
              <a:srgbClr val="F46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73152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 Deepak Kachhap </a:t>
            </a:r>
            <a:r>
              <a:rPr lang="en-US" sz="1300" dirty="0" err="1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Oraon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731520" y="5577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 https://github.com/deepak1145460-design/Data-science-capstone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731520" y="5897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August 20,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set out to do — and what we found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24912" cy="4434840"/>
          </a:xfrm>
          <a:prstGeom prst="roundRect">
            <a:avLst>
              <a:gd name="adj" fmla="val 2685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971800"/>
            <a:ext cx="221284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launch data via the SpaceX REST API and by scraping Wikipedia's Falcon 9 launch-records table, then wrangled both into a single analysis-ready dataset with an engineered landing-success label.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724912" cy="4434840"/>
          </a:xfrm>
          <a:prstGeom prst="roundRect">
            <a:avLst>
              <a:gd name="adj" fmla="val 2685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30752" y="187452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3730752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30752" y="25603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30752" y="2971800"/>
            <a:ext cx="221284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the data with visual EDA (Matplotlib/Seaborn) and SQL, then built an interactive Folium map and a Plotly Dash app to analyze launch sites, payloads, and outcomes.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2724912" cy="4434840"/>
          </a:xfrm>
          <a:prstGeom prst="roundRect">
            <a:avLst>
              <a:gd name="adj" fmla="val 2685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56832" y="187452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6656832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56832" y="25603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56832" y="2971800"/>
            <a:ext cx="221284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tuned four classifiers (Logistic Regression, SVM, Decision Tree, KNN) with GridSearchCV to predict first-stage landing success from flight parameters.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1600200"/>
            <a:ext cx="2724912" cy="4434840"/>
          </a:xfrm>
          <a:prstGeom prst="roundRect">
            <a:avLst>
              <a:gd name="adj" fmla="val 2685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82912" y="187452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9582912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582912" y="25603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82912" y="2971800"/>
            <a:ext cx="221284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rate rose from near 0% in 2010–2013 to over 80% by 2019–2020. The tuned Logistic Regression / SVM models reached 83.3% test accuracy, the best of the four candidates.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and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6263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advertises Falcon 9 launches at $62M, far below competitors' $165M+, largely because SpaceX reuses the first stage instead of discarding it.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 predict whether a launch's first stage will land successfully — before it flies — we can estimate the true cost of a launch, which is valuable for a company that wants to compete with SpaceX for a contract.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using historical launch data (site, payload, orbit, booster version, flight number), predict the binary outcome — did the first stage land successfully or not?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55448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Questions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0" y="2240280"/>
            <a:ext cx="3520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variables most affect landing outcome?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success rate changed over time?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orbit types and launch sites are riskiest?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classification model best predicts a landing?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SPACEX API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01: pulling Falcon 9 launch data from api.spacexdata.com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F464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requests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4 REST endpoints — launches, rockets, payloads, launchpads, cores — to pull raw JSON.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2783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C4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66160" y="1874520"/>
            <a:ext cx="457200" cy="457200"/>
          </a:xfrm>
          <a:prstGeom prst="ellipse">
            <a:avLst/>
          </a:prstGeom>
          <a:solidFill>
            <a:srgbClr val="F464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566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 IDs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launch record only stores IDs; helper functions look up booster, launchpad, payload and core names.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6247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C4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F464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Flatten &amp; assemble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resolved fields into one flat DataFrame — one row per launch.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9711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C4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5256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235440" y="1874520"/>
            <a:ext cx="457200" cy="457200"/>
          </a:xfrm>
          <a:prstGeom prst="ellipse">
            <a:avLst/>
          </a:prstGeom>
          <a:solidFill>
            <a:srgbClr val="F464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2354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3544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&amp; clean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3544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Falcon 9 only (drop Falcon 1), renumber flights, fill missing payload mass with the column mean.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22960" y="42062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Falcon 9 launch records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raw fields → flattened, human-readable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the base dataset for wrangling &amp; modeling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94360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 for this notebook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93192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080760" y="3931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https://github.com/deepak1145460-design/Data-science-capstone/blob/main/01_data_collection_api_.ipynb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0" y="4709160"/>
            <a:ext cx="5669280" cy="1280160"/>
          </a:xfrm>
          <a:prstGeom prst="rect">
            <a:avLst/>
          </a:prstGeom>
          <a:solidFill>
            <a:srgbClr val="EDF1F7"/>
          </a:solidFill>
          <a:ln w="15875">
            <a:solidFill>
              <a:srgbClr val="AAB4C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217920" y="4892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</a:t>
            </a: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paste a screenshot of the fetched-data output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notebook (record count / shape) here.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WEB SCRAPING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02: scraping Wikipedia's Falcon 9 &amp; Falcon Heavy launch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2E6F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HTML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the Wikipedia page "List of Falcon 9 and Falcon Heavy launches" with requests.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2783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C4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66160" y="1874520"/>
            <a:ext cx="457200" cy="457200"/>
          </a:xfrm>
          <a:prstGeom prst="ellipse">
            <a:avLst/>
          </a:prstGeom>
          <a:solidFill>
            <a:srgbClr val="2E6F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566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Locate 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BeautifulSoup to find the launch-record &lt;table&gt; elements on the page.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6247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C4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2E6F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 rows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Programmatically read table headers, then iterate every &lt;tr&gt;/&lt;td&gt; to extract each launch's fields.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9711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C4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5256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235440" y="1874520"/>
            <a:ext cx="457200" cy="457200"/>
          </a:xfrm>
          <a:prstGeom prst="ellipse">
            <a:avLst/>
          </a:prstGeom>
          <a:solidFill>
            <a:srgbClr val="2E6F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2354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3544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&amp; export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3544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parsed rows into a DataFrame — an independent, cross-check dataset.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22960" y="42062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independent dataset to cross-check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API-sourced records for consistency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two are combined during wrangling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94360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 for this notebook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93192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080760" y="3931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https://github.com/deepak1145460-design/Data-science-capstone/blob/main/02_data_collection_webscraping_.ipynb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0" y="4709160"/>
            <a:ext cx="5669280" cy="1280160"/>
          </a:xfrm>
          <a:prstGeom prst="rect">
            <a:avLst/>
          </a:prstGeom>
          <a:solidFill>
            <a:srgbClr val="EDF1F7"/>
          </a:solidFill>
          <a:ln w="15875">
            <a:solidFill>
              <a:srgbClr val="AAB4C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217920" y="4892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</a:t>
            </a: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paste a screenshot of the scraped table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/ row count from the notebook here.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03: cleaning the data and engineering the landing-success label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201625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20162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80136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missing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13055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nulls column by column — concentrated in LandingPad, expected for expendable or failed landings.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355080" y="201625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55080" y="20162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180136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distributions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213055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launch-site and orbit-type frequency counts to understand class balance.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31520" y="329641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" y="32964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08152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 outcomes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41071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outcome strings (e.g. 'True ASDS', 'False Ocean', 'None None') mapped to a bad/good outcome set.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9718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55080" y="329641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355080" y="32964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08152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 Class label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341071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1 only when landing_success is True; every other outcome (failure, no attempt) = 0.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7406640" cy="160020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68680" y="4343400"/>
            <a:ext cx="6858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landing success rate in the wrangled dataset: 66.67%  (90 launches, 18 fields incl. Class)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0" y="4114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 for this notebook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44348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366760" y="4434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https://github.com/deepak1145460-design/Data-science-capstone/blob/main/03_data_wrangling_.ipynb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DATA VISUALIZATION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04: charts used and what each one shows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417320"/>
          </a:xfrm>
          <a:prstGeom prst="rect">
            <a:avLst/>
          </a:prstGeom>
          <a:solidFill>
            <a:srgbClr val="F464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 — Flight Number vs Launch Site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landing success improves as flight number (experience) increases, per site.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600200"/>
            <a:ext cx="82296" cy="1417320"/>
          </a:xfrm>
          <a:prstGeom prst="rect">
            <a:avLst/>
          </a:prstGeom>
          <a:solidFill>
            <a:srgbClr val="2E6FEE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373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 — Payload Mass vs Launch Site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19456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heavier payloads at a given site are linked to lower success.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200400"/>
            <a:ext cx="82296" cy="1417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375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 — Success Rate by Orbit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orbit types by landing success rate to flag the riskiest orbits.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2004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3200400"/>
            <a:ext cx="82296" cy="1417320"/>
          </a:xfrm>
          <a:prstGeom prst="rect">
            <a:avLst/>
          </a:prstGeom>
          <a:solidFill>
            <a:srgbClr val="F4642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3375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 — Flight Number vs Orbit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79476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success by orbit type has evolved as SpaceX gained more flights.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800600"/>
            <a:ext cx="82296" cy="1417320"/>
          </a:xfrm>
          <a:prstGeom prst="rect">
            <a:avLst/>
          </a:prstGeom>
          <a:solidFill>
            <a:srgbClr val="2E6FE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377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 — Payload Mass vs Orbit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39496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payload mass interacts with orbit type to affect landing odds.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800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4800600"/>
            <a:ext cx="82296" cy="1417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9377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— Yearly Success-Rate Trend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539496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trajectory of landing success from 2010 to 2020.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TextBox 29"/>
          <p:cNvSpPr txBox="1"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GitHub: https://github.com/deepak1145460-design/Data-science-capstone/blob/main/04_eda_visualization_.ipynb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 — RESULTS (1/3)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Flight number &amp; payload mass vs. launch site</a:t>
            </a:r>
            <a:endParaRPr lang="en-US" sz="2800" dirty="0"/>
          </a:p>
        </p:txBody>
      </p:sp>
      <p:pic>
        <p:nvPicPr>
          <p:cNvPr id="4" name="Image 0" descr="/home/claude/imgs/eda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440680" cy="4160520"/>
          </a:xfrm>
          <a:prstGeom prst="rect">
            <a:avLst/>
          </a:prstGeom>
        </p:spPr>
      </p:pic>
      <p:pic>
        <p:nvPicPr>
          <p:cNvPr id="5" name="Image 1" descr="/home/claude/imgs/eda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440680" cy="4160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5216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flights (higher FlightNumber) skew orange (success) at every site — SpaceX's recovery process visibly matured with experience.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172200" y="585216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payloads succeed less consistently, especially at VAFB SLC-4E — payload mass is a meaningful risk factor.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 — RESULTS (2/3)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rate by orbit &amp; flight number vs. orbit</a:t>
            </a:r>
            <a:endParaRPr lang="en-US" sz="2800" dirty="0"/>
          </a:p>
        </p:txBody>
      </p:sp>
      <p:pic>
        <p:nvPicPr>
          <p:cNvPr id="4" name="Image 0" descr="/home/claude/imgs/eda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440680" cy="4160520"/>
          </a:xfrm>
          <a:prstGeom prst="rect">
            <a:avLst/>
          </a:prstGeom>
        </p:spPr>
      </p:pic>
      <p:pic>
        <p:nvPicPr>
          <p:cNvPr id="5" name="Image 1" descr="/home/claude/imgs/eda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440680" cy="4160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5216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and SSO orbits show a 100% landing success rate in this dataset; GTO and SO are the riskiest.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172200" y="585216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in higher-energy orbits (GTO, ISS) also improves at higher flight numbers, tracking overall program maturity.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 — RESULTS (3/3)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Payload mass vs. orbit &amp; the yearly success-rate trend</a:t>
            </a:r>
            <a:endParaRPr lang="en-US" sz="2800" dirty="0"/>
          </a:p>
        </p:txBody>
      </p:sp>
      <p:pic>
        <p:nvPicPr>
          <p:cNvPr id="4" name="Image 0" descr="/home/claude/imgs/eda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440680" cy="4160520"/>
          </a:xfrm>
          <a:prstGeom prst="rect">
            <a:avLst/>
          </a:prstGeom>
        </p:spPr>
      </p:pic>
      <p:pic>
        <p:nvPicPr>
          <p:cNvPr id="5" name="Image 1" descr="/home/claude/imgs/eda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440680" cy="4160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5216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Payload/orbit combinations cluster — very heavy payloads mostly target LEO/ISS, where recovery is comparatively easier.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172200" y="585216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was ~0% through 2013, climbed sharply from 2014, and has stayed above 60–90% since 2016.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05: 10 queries run against a local SQLite table (SPACEXTBL)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Distinct launch sites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0" y="164592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434840" y="164592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Sites beginning with 'CCA'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046720" y="164592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183880" y="164592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Total NASA (CRS) payload mass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Average payload mass by booster version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23774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34840" y="237744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Date of first successful ground-pad landing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23774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183880" y="237744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Boosters: drone-ship success, 4000–6000 kg payload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310896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Total successes vs. failures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0" y="310896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434840" y="310896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Booster versions carrying max payload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310896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183880" y="310896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Launch-site / outcome ranking by year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5800" y="384048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Failure-outcome ranking, 2010-06-04 to 2017-03-20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 for this notebook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85800" y="5577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https://github.com/deepak1145460-design/Data-science-capstone/blob/main/05_eda_sql_.ipynb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—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outputs: launch sites, payloads, success rates, rankings, time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solidFill>
            <a:srgbClr val="EDF1F7"/>
          </a:solidFill>
          <a:ln w="15875">
            <a:solidFill>
              <a:srgbClr val="AAB4C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  <p:pic>
        <p:nvPicPr>
          <p:cNvPr id="8" name="Picture 7" descr="sql_results_grid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71600"/>
            <a:ext cx="11460480" cy="44339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06 (Folium) &amp; 07_spacex_dash_app.py (Plotly Dash)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  Folium Map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every launch site on an interactive map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each launch record green (success) / red (failure)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mouse-position readout for distance measurement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analysis to coastline, railway, highway &amp; nearest city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4983480"/>
            <a:ext cx="4892040" cy="640080"/>
          </a:xfrm>
          <a:prstGeom prst="roundRect">
            <a:avLst>
              <a:gd name="adj" fmla="val 8571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498348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https://github.com/deepak1145460-design/Data-science-capstone/blob/main/06_folium_launch_site_analysis_.ipynb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Plotly Dash App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3317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to pick a launch site (or "All Sites")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success-count share by site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slider to filter by payload mass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payload mass vs. success, colored by booster version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4652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4983480"/>
            <a:ext cx="4892040" cy="640080"/>
          </a:xfrm>
          <a:prstGeom prst="roundRect">
            <a:avLst>
              <a:gd name="adj" fmla="val 8571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583680" y="498348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https://github.com/deepak1145460-design/Data-science-capstone/blob/main/07_spacex_dash_app_.py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 —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site markers, launch outcomes, and proximity analysis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  <p:pic>
        <p:nvPicPr>
          <p:cNvPr id="15" name="Picture 14" descr="A map of the north america&#10;&#10;Description automatically generated">
            <a:extLst>
              <a:ext uri="{FF2B5EF4-FFF2-40B4-BE49-F238E27FC236}">
                <a16:creationId xmlns:a16="http://schemas.microsoft.com/office/drawing/2014/main" id="{C037EECF-0A87-B11D-1919-CB5FF4656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1" y="1437407"/>
            <a:ext cx="4252996" cy="2564307"/>
          </a:xfrm>
          <a:prstGeom prst="rect">
            <a:avLst/>
          </a:prstGeom>
        </p:spPr>
      </p:pic>
      <p:pic>
        <p:nvPicPr>
          <p:cNvPr id="17" name="Picture 16" descr="A map with a map and a map with a map and a map with a map and a map with a map and a map with a map and a map with a map and a map with&#10;&#10;Description automatically generated">
            <a:extLst>
              <a:ext uri="{FF2B5EF4-FFF2-40B4-BE49-F238E27FC236}">
                <a16:creationId xmlns:a16="http://schemas.microsoft.com/office/drawing/2014/main" id="{B5C69DC3-7887-AC37-9256-B615D9754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681" y="1406463"/>
            <a:ext cx="4223993" cy="2564307"/>
          </a:xfrm>
          <a:prstGeom prst="rect">
            <a:avLst/>
          </a:prstGeom>
        </p:spPr>
      </p:pic>
      <p:pic>
        <p:nvPicPr>
          <p:cNvPr id="19" name="Picture 18" descr="A map of a city&#10;&#10;Description automatically generated">
            <a:extLst>
              <a:ext uri="{FF2B5EF4-FFF2-40B4-BE49-F238E27FC236}">
                <a16:creationId xmlns:a16="http://schemas.microsoft.com/office/drawing/2014/main" id="{6DCC54A0-DF68-87C0-2597-5719457BD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627" y="4359842"/>
            <a:ext cx="4001020" cy="23985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4">
            <a:extLst>
              <a:ext uri="{FF2B5EF4-FFF2-40B4-BE49-F238E27FC236}">
                <a16:creationId xmlns:a16="http://schemas.microsoft.com/office/drawing/2014/main" id="{87A9CAB3-6A17-8530-610E-6FC332A68618}"/>
              </a:ext>
            </a:extLst>
          </p:cNvPr>
          <p:cNvSpPr/>
          <p:nvPr/>
        </p:nvSpPr>
        <p:spPr>
          <a:xfrm>
            <a:off x="-1586" y="837991"/>
            <a:ext cx="12193585" cy="3310625"/>
          </a:xfrm>
          <a:prstGeom prst="rect">
            <a:avLst/>
          </a:prstGeom>
          <a:solidFill>
            <a:srgbClr val="EDF1F7"/>
          </a:solidFill>
          <a:ln w="15875">
            <a:solidFill>
              <a:srgbClr val="AAB4C4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APP —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pie chart and payload-vs-outcome scatter plot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-1" y="4174454"/>
            <a:ext cx="12191999" cy="2390937"/>
          </a:xfrm>
          <a:prstGeom prst="rect">
            <a:avLst/>
          </a:prstGeom>
          <a:solidFill>
            <a:srgbClr val="EDF1F7"/>
          </a:solidFill>
          <a:ln w="15875">
            <a:solidFill>
              <a:srgbClr val="AAB4C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00" dirty="0"/>
          </a:p>
        </p:txBody>
      </p:sp>
      <p:pic>
        <p:nvPicPr>
          <p:cNvPr id="11" name="Picture 10" descr="A pie chart with different colored circles&#10;&#10;Description automatically generated">
            <a:extLst>
              <a:ext uri="{FF2B5EF4-FFF2-40B4-BE49-F238E27FC236}">
                <a16:creationId xmlns:a16="http://schemas.microsoft.com/office/drawing/2014/main" id="{7478188F-A95D-4676-7449-3BCBDD2D5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67" y="1167983"/>
            <a:ext cx="5461510" cy="2235179"/>
          </a:xfrm>
          <a:prstGeom prst="rect">
            <a:avLst/>
          </a:prstGeom>
        </p:spPr>
      </p:pic>
      <p:pic>
        <p:nvPicPr>
          <p:cNvPr id="13" name="Picture 12" descr="A pie chart with a red and blue circle&#10;&#10;Description automatically generated">
            <a:extLst>
              <a:ext uri="{FF2B5EF4-FFF2-40B4-BE49-F238E27FC236}">
                <a16:creationId xmlns:a16="http://schemas.microsoft.com/office/drawing/2014/main" id="{94AAEC54-5E65-F3BC-0FB5-CBCF26F40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1" y="1137816"/>
            <a:ext cx="4846320" cy="2253023"/>
          </a:xfrm>
          <a:prstGeom prst="rect">
            <a:avLst/>
          </a:prstGeom>
        </p:spPr>
      </p:pic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0B33E88E-E0FD-3A5F-CCA5-C1F33724D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0" y="4024041"/>
            <a:ext cx="7097735" cy="25413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—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08: four classifiers, tuned with GridSearchCV</a:t>
            </a:r>
            <a:endParaRPr lang="en-US" sz="2800" dirty="0"/>
          </a:p>
        </p:txBody>
      </p:sp>
      <p:pic>
        <p:nvPicPr>
          <p:cNvPr id="4" name="Image 0" descr="/home/claude/imgs/pred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76072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83680" y="21031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features, split 80/20 train (72) / test (18)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(10-fold CV) tuned Logistic Regression, SVM, Decision Tree, and KNN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 best hyperparameters per model on CV accuracy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all four on held-out test accuracy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583680" y="434340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434340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 &amp; KNN tied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83.3% test accuracy;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trailed at 72.2%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— BEST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 and evaluation metrics</a:t>
            </a:r>
            <a:endParaRPr lang="en-US" sz="2800" dirty="0"/>
          </a:p>
        </p:txBody>
      </p:sp>
      <p:pic>
        <p:nvPicPr>
          <p:cNvPr id="4" name="Image 0" descr="/home/claude/imgs/pre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21208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Model: Logistic Regression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126480" y="21945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/>
          <p:nvPr/>
        </p:nvSpPr>
        <p:spPr>
          <a:xfrm>
            <a:off x="6355080" y="2194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0" y="2194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46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83.3%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126480" y="29718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/>
        </p:spPr>
      </p:sp>
      <p:sp>
        <p:nvSpPr>
          <p:cNvPr id="10" name="Text 7"/>
          <p:cNvSpPr/>
          <p:nvPr/>
        </p:nvSpPr>
        <p:spPr>
          <a:xfrm>
            <a:off x="6355080" y="2971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0" y="2971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46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0.889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126480" y="374904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Score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46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26480" y="470916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47091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identified all 12 actual landings and 3 of 6 non-landings — it over-predicts success, so it should be paired with a cost-aware threshold in production.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10896" cy="310896"/>
          </a:xfrm>
          <a:prstGeom prst="ellipse">
            <a:avLst/>
          </a:prstGeom>
          <a:solidFill>
            <a:srgbClr val="F464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climbed from ~0% (2010-13) to 80-90% (2019-20) as SpaceX matured its recovery process.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310896" cy="310896"/>
          </a:xfrm>
          <a:prstGeom prst="ellipse">
            <a:avLst/>
          </a:prstGeom>
          <a:solidFill>
            <a:srgbClr val="F464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78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532888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number, payload mass, launch site, and orbit type all measurably influence landing outcome.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419856"/>
            <a:ext cx="310896" cy="310896"/>
          </a:xfrm>
          <a:prstGeom prst="ellipse">
            <a:avLst/>
          </a:prstGeom>
          <a:solidFill>
            <a:srgbClr val="F4642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19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3374136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and SSO orbits show the highest success; GTO and SO are the riskiest.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310896" cy="310896"/>
          </a:xfrm>
          <a:prstGeom prst="ellipse">
            <a:avLst/>
          </a:prstGeom>
          <a:solidFill>
            <a:srgbClr val="F464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61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421538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 and KNN each reached 83.3% test accuracy — Decision Tree underperformed at 72.2%.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102352"/>
            <a:ext cx="310896" cy="310896"/>
          </a:xfrm>
          <a:prstGeom prst="ellipse">
            <a:avLst/>
          </a:prstGeom>
          <a:solidFill>
            <a:srgbClr val="F4642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02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505663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model gives a reasonable first estimate of launch cost for competitive bidding, with room to improve recall on failed landings.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2037</Words>
  <Application>Microsoft Office PowerPoint</Application>
  <PresentationFormat>Widescreen</PresentationFormat>
  <Paragraphs>255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Nikita kachhap</cp:lastModifiedBy>
  <cp:revision>2</cp:revision>
  <dcterms:created xsi:type="dcterms:W3CDTF">2026-08-19T20:41:16Z</dcterms:created>
  <dcterms:modified xsi:type="dcterms:W3CDTF">2026-08-19T22:24:04Z</dcterms:modified>
</cp:coreProperties>
</file>